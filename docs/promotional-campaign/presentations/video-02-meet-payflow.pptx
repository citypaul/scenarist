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FFFF"/>
                </a:solidFill>
              </a:defRPr>
            </a:pPr>
            <a:r>
              <a:t>Meet PayFlow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>
                <a:solidFill>
                  <a:srgbClr val="A1A1AA"/>
                </a:solidFill>
              </a:defRPr>
            </a:pPr>
            <a:r>
              <a:t>A Real Payment 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Before we test...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59E0B"/>
                </a:solidFill>
              </a:defRPr>
            </a:pPr>
            <a:r>
              <a:t>Let's see what we're testing.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The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8288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Next.js 16 (App Router)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24688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TypeScript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1089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Tailwind CSS + shadcn/ui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749039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59E0B"/>
                </a:solidFill>
              </a:defRPr>
            </a:pPr>
            <a:r>
              <a:t>Three backend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A1A1AA"/>
                </a:solidFill>
              </a:defRPr>
            </a:pPr>
            <a:r>
              <a:t>Nothing exotic. The kind of app you'd actually build.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Three Backend Services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7432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3108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User Service</a:t>
            </a:r>
          </a:p>
          <a:p>
            <a:br/>
            <a:pPr algn="ctr">
              <a:defRPr sz="1600">
                <a:solidFill>
                  <a:srgbClr val="E4E4E7"/>
                </a:solidFill>
              </a:defRPr>
            </a:pPr>
            <a:r>
              <a:t>User Tier</a:t>
            </a:r>
            <a:br/>
            <a:r>
              <a:t>Pro/Free</a:t>
            </a:r>
            <a:br/>
            <a:r>
              <a:t>/users/current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645920"/>
            <a:ext cx="3474720" cy="2743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920240"/>
            <a:ext cx="3108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Inventory Service</a:t>
            </a:r>
          </a:p>
          <a:p>
            <a:br/>
            <a:pPr algn="ctr">
              <a:defRPr sz="1600">
                <a:solidFill>
                  <a:srgbClr val="E4E4E7"/>
                </a:solidFill>
              </a:defRPr>
            </a:pPr>
            <a:r>
              <a:t>Offer Availability</a:t>
            </a:r>
            <a:br/>
            <a:r>
              <a:t>Quantity/Reserved</a:t>
            </a:r>
            <a:br/>
            <a:r>
              <a:t>/inventory/:id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1645920"/>
            <a:ext cx="3474720" cy="2743200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1920240"/>
            <a:ext cx="3108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Shipping Service</a:t>
            </a:r>
          </a:p>
          <a:p>
            <a:br/>
            <a:pPr algn="ctr">
              <a:defRPr sz="1600">
                <a:solidFill>
                  <a:srgbClr val="E4E4E7"/>
                </a:solidFill>
              </a:defRPr>
            </a:pPr>
            <a:r>
              <a:t>Delivery Options</a:t>
            </a:r>
            <a:br/>
            <a:r>
              <a:t>Rates &amp; Times</a:t>
            </a:r>
            <a:br/>
            <a:r>
              <a:t>/shipping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029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59E0B"/>
                </a:solidFill>
              </a:defRPr>
            </a:pPr>
            <a:r>
              <a:t>All server-side HTTP calls. Browser → Next.js → Services.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The Key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A1A1AA"/>
                </a:solidFill>
              </a:defRPr>
            </a:pPr>
            <a:r>
              <a:t>Your browser never talks to these services directly.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Next.js makes server-side HTTP calls.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114800"/>
            <a:ext cx="9448495" cy="137160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297680"/>
            <a:ext cx="908273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Browser → Next.js Server → User / Inventory / Shipping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22C55E"/>
                </a:solidFill>
              </a:defRPr>
            </a:pPr>
            <a:r>
              <a:t>This is 100% mockable.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366F1"/>
                </a:solidFill>
              </a:defRPr>
            </a:pPr>
            <a:r>
              <a:t>User Service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9144000" cy="274320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28800"/>
            <a:ext cx="877824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4E4E7"/>
                </a:solidFill>
                <a:latin typeface="Menlo"/>
              </a:defRPr>
            </a:pPr>
            <a:r>
              <a:t>// Server-side call to User Service</a:t>
            </a:r>
            <a:br/>
            <a:r>
              <a:t>const response = await fetch("http://localhost:3001/users/current");</a:t>
            </a:r>
            <a:br/>
            <a:r>
              <a:t>const user = await response.json();</a:t>
            </a:r>
            <a:br/>
            <a:r>
              <a:t>// Returns: { id, email, name, tier }</a:t>
            </a:r>
            <a:br/>
            <a:br/>
            <a:r>
              <a:t>// tier: "free" | "basic" | "pro" | "enterprise"</a:t>
            </a:r>
            <a:br/>
            <a:r>
              <a:t>// Pro users get 20% discount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Server fetches user tier for pricing decisions.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0B981"/>
                </a:solidFill>
              </a:defRPr>
            </a:pPr>
            <a:r>
              <a:t>Inventory Service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9144000" cy="292608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28800"/>
            <a:ext cx="877824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4E4E7"/>
                </a:solidFill>
                <a:latin typeface="Menlo"/>
              </a:defRPr>
            </a:pPr>
            <a:r>
              <a:t>// Server-side call to Inventory Service</a:t>
            </a:r>
            <a:br/>
            <a:r>
              <a:t>const response = await fetch(</a:t>
            </a:r>
            <a:br/>
            <a:r>
              <a:t>  \`http://localhost:3001/inventory/\${productId}\`</a:t>
            </a:r>
            <a:br/>
            <a:r>
              <a:t>);</a:t>
            </a:r>
            <a:br/>
            <a:r>
              <a:t>const data = await response.json();</a:t>
            </a:r>
            <a:br/>
            <a:r>
              <a:t>// Returns: { id, productId, quantity, reserved }</a:t>
            </a:r>
            <a:br/>
            <a:br/>
            <a:r>
              <a:t>// quantity: 0 = offer ended, 3 = limited spots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Server fetches offer availability. No test mode.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EA5E9"/>
                </a:solidFill>
              </a:defRPr>
            </a:pPr>
            <a:r>
              <a:t>Shipping Service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9144000" cy="320040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28800"/>
            <a:ext cx="8778240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4E4E7"/>
                </a:solidFill>
                <a:latin typeface="Menlo"/>
              </a:defRPr>
            </a:pPr>
            <a:r>
              <a:t>// Server-side call to Shipping Service</a:t>
            </a:r>
            <a:br/>
            <a:r>
              <a:t>const response = await fetch("http://localhost:3001/shipping");</a:t>
            </a:r>
            <a:br/>
            <a:r>
              <a:t>const options = await response.json();</a:t>
            </a:r>
            <a:br/>
            <a:r>
              <a:t>// Returns: [</a:t>
            </a:r>
            <a:br/>
            <a:r>
              <a:t>//   { id: "standard", price: 5.99, estimatedDays: "5-7" },</a:t>
            </a:r>
            <a:br/>
            <a:r>
              <a:t>//   { id: "express", price: 14.99, estimatedDays: "2-3" },</a:t>
            </a:r>
            <a:br/>
            <a:r>
              <a:t>//   { id: "overnight", price: 29.99, estimatedDays: "1" }</a:t>
            </a:r>
            <a:br/>
            <a:r>
              <a:t>//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Server fetches delivery options and rates.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Two Terminals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828800"/>
            <a:ext cx="5029200" cy="256032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011680"/>
            <a:ext cx="466344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Next.js</a:t>
            </a:r>
          </a:p>
          <a:p>
            <a:pPr>
              <a:defRPr sz="1800">
                <a:solidFill>
                  <a:srgbClr val="22C55E"/>
                </a:solidFill>
                <a:latin typeface="Menlo"/>
              </a:defRPr>
            </a:pPr>
            <a:r>
              <a:t>pnpm dev</a:t>
            </a:r>
          </a:p>
          <a:p>
            <a:pPr>
              <a:defRPr sz="1600">
                <a:solidFill>
                  <a:srgbClr val="A1A1AA"/>
                </a:solidFill>
              </a:defRPr>
            </a:pPr>
            <a:r>
              <a:t>localhost:3000</a:t>
            </a:r>
          </a:p>
          <a:p>
            <a:br/>
            <a:pPr>
              <a:defRPr sz="1600">
                <a:solidFill>
                  <a:srgbClr val="A1A1AA"/>
                </a:solidFill>
              </a:defRPr>
            </a:pPr>
            <a:r>
              <a:t>Your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828800"/>
            <a:ext cx="5029200" cy="256032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2011680"/>
            <a:ext cx="466344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Backend Services</a:t>
            </a:r>
          </a:p>
          <a:p>
            <a:pPr>
              <a:defRPr sz="1800">
                <a:solidFill>
                  <a:srgbClr val="22C55E"/>
                </a:solidFill>
                <a:latin typeface="Menlo"/>
              </a:defRPr>
            </a:pPr>
            <a:r>
              <a:t>pnpm inventory</a:t>
            </a:r>
          </a:p>
          <a:p>
            <a:pPr>
              <a:defRPr sz="1600">
                <a:solidFill>
                  <a:srgbClr val="A1A1AA"/>
                </a:solidFill>
              </a:defRPr>
            </a:pPr>
            <a:r>
              <a:t>localhost:3001</a:t>
            </a:r>
          </a:p>
          <a:p>
            <a:br/>
            <a:pPr>
              <a:defRPr sz="1600">
                <a:solidFill>
                  <a:srgbClr val="A1A1AA"/>
                </a:solidFill>
              </a:defRPr>
            </a:pPr>
            <a:r>
              <a:t>User + Inventory + Shipping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59E0B"/>
                </a:solidFill>
              </a:defRPr>
            </a:pPr>
            <a:r>
              <a:t>json-server with logging shows every request.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The Happy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1.  Products show offer badges (Inventory Service)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2.  User tier badge shows Pro (User Service)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3.  20% discount applied for Pro 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832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4.  Add to cart (see json-server logs!)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0233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5.  Checkout shows shipping options (Shipping Service)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634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6.  Complete purchase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2C55E"/>
                </a:solidFill>
              </a:defRPr>
            </a:pPr>
            <a:r>
              <a:t>This works great.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</a:defRPr>
            </a:pPr>
            <a:r>
              <a:t>How Hard Is This To Test?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2C55E"/>
                </a:solidFill>
              </a:defRPr>
            </a:pPr>
            <a:r>
              <a:t>The Easy Stuff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Happy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22C55E"/>
                </a:solidFill>
              </a:defRPr>
            </a:pPr>
            <a:r>
              <a:t>Just run the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F59E0B"/>
                </a:solidFill>
              </a:defRPr>
            </a:pPr>
            <a:r>
              <a:t>Only ONE scenario is truly easy.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59E0B"/>
                </a:solidFill>
              </a:defRPr>
            </a:pPr>
            <a:r>
              <a:t>The Annoying Stuff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Premium user discount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F59E0B"/>
                </a:solidFill>
              </a:defRPr>
            </a:pPr>
            <a:r>
              <a:t>Edit db.json to change user 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Free user pricing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F59E0B"/>
                </a:solidFill>
              </a:defRPr>
            </a:pPr>
            <a:r>
              <a:t>Edit db.json again, remember to change back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A1A1AA"/>
                </a:solidFill>
              </a:defRPr>
            </a:pPr>
            <a:r>
              <a:t>Possible, but requires manual setup each 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EF4444"/>
                </a:solidFill>
              </a:defRPr>
            </a:pPr>
            <a:r>
              <a:t>The Hard Stuff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Offer ended (0 spots left)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EF4444"/>
                </a:solidFill>
              </a:defRPr>
            </a:pPr>
            <a:r>
              <a:t>Edit db.json? Restart server?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Express shipping unavailable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EF4444"/>
                </a:solidFill>
              </a:defRPr>
            </a:pPr>
            <a:r>
              <a:t>Edit db.json to remove express 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Shipping service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EF4444"/>
                </a:solidFill>
              </a:defRPr>
            </a:pPr>
            <a:r>
              <a:t>Kill the server mid-test?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88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Limited spots (3 left)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120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EF4444"/>
                </a:solidFill>
              </a:defRPr>
            </a:pPr>
            <a:r>
              <a:t>Edit db.json manually every 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F4444"/>
                </a:solidFill>
              </a:defRPr>
            </a:pPr>
            <a:r>
              <a:t>The Impossible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2286000"/>
          </a:xfrm>
          <a:prstGeom prst="round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81425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Offer ends during checkout</a:t>
            </a:r>
          </a:p>
          <a:p>
            <a:br/>
            <a:pPr algn="ctr">
              <a:defRPr sz="2400">
                <a:solidFill>
                  <a:srgbClr val="FCA5A5"/>
                </a:solidFill>
              </a:defRPr>
            </a:pPr>
            <a:r>
              <a:t>User loads page → offer available</a:t>
            </a:r>
            <a:br/>
            <a:r>
              <a:t>User clicks checkout → someone takes last spot</a:t>
            </a:r>
            <a:br/>
            <a:r>
              <a:t>User clicks pay → ???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A1A1AA"/>
                </a:solidFill>
              </a:defRPr>
            </a:pPr>
            <a:r>
              <a:t>Edit db.json WHILE the test runs? Time it perfectly?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59E0B"/>
                </a:solidFill>
              </a:defRPr>
            </a:pPr>
            <a:r>
              <a:t>That's not testing. That's praying.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50 Tests in Parallel?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All tests hit the same User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01752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All tests hit the same Inventory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749039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FFFFF"/>
                </a:solidFill>
              </a:defRPr>
            </a:pPr>
            <a:r>
              <a:t>All tests hit the same Shipping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4632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EF4444"/>
                </a:solidFill>
              </a:defRPr>
            </a:pPr>
            <a:r>
              <a:t>Shared state = Test conflicts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22C55E"/>
                </a:solidFill>
              </a:defRPr>
            </a:pPr>
            <a:r>
              <a:t>Easy:  Happy path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F59E0B"/>
                </a:solidFill>
              </a:defRPr>
            </a:pPr>
            <a:r>
              <a:t>Annoying:  Different user tiers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F4444"/>
                </a:solidFill>
              </a:defRPr>
            </a:pPr>
            <a:r>
              <a:t>Hard:  Service errors, offer states, shipping options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F4444"/>
                </a:solidFill>
              </a:defRPr>
            </a:pPr>
            <a:r>
              <a:t>Impossible:  Sequences, parallel tests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114800"/>
            <a:ext cx="10362895" cy="1371600"/>
          </a:xfrm>
          <a:prstGeom prst="roundRect">
            <a:avLst/>
          </a:prstGeom>
          <a:solidFill>
            <a:srgbClr val="7835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297680"/>
            <a:ext cx="981425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The more realistic your test, the harder it is to set up.</a:t>
            </a:r>
          </a:p>
          <a:p>
            <a:pPr algn="ctr">
              <a:defRPr sz="2400">
                <a:solidFill>
                  <a:srgbClr val="F59E0B"/>
                </a:solidFill>
              </a:defRPr>
            </a:pPr>
            <a:r>
              <a:t>Edge cases are nearly impossible.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A1A1AA"/>
                </a:solidFill>
              </a:defRPr>
            </a:pPr>
            <a:r>
              <a:t>What if...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Same app. Same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59E0B"/>
                </a:solidFill>
              </a:defRPr>
            </a:pPr>
            <a:r>
              <a:t>But YOU control the responses.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59E0B"/>
                </a:solidFill>
              </a:defRPr>
            </a:pPr>
            <a:r>
              <a:t>Scenarist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json-server is still running...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>
                <a:solidFill>
                  <a:srgbClr val="22C55E"/>
                </a:solidFill>
              </a:defRPr>
            </a:pPr>
            <a:r>
              <a:t>But Scenarist intercepts BEFORE requests reach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657600"/>
            <a:ext cx="8534095" cy="1645920"/>
          </a:xfrm>
          <a:prstGeom prst="roundRect">
            <a:avLst/>
          </a:prstGeom>
          <a:solidFill>
            <a:srgbClr val="272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840480"/>
            <a:ext cx="816833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Next.js → Scenarist → (intercepted) → json-server</a:t>
            </a:r>
          </a:p>
          <a:p>
            <a:pPr algn="ctr">
              <a:defRPr sz="1800">
                <a:solidFill>
                  <a:srgbClr val="A1A1AA"/>
                </a:solidFill>
              </a:defRPr>
            </a:pPr>
            <a:r>
              <a:t>                                           never reached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8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A1A1AA"/>
                </a:solidFill>
              </a:defRPr>
            </a:pPr>
            <a:r>
              <a:t>Next: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One Server, Unlimited Scenarios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How Scenarist actually works.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