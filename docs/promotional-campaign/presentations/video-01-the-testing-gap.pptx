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The Testing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A1A1AA"/>
                </a:solidFill>
              </a:defRPr>
            </a:pPr>
            <a:r>
              <a:t>Nobody Talks About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Your server tests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Your frontend tests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CI is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You 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4444"/>
                </a:solidFill>
              </a:defRPr>
            </a:pPr>
            <a:r>
              <a:t>Users report a bug.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What went wrong?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You tested both sides separately.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You never proved they work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1A1AA"/>
                </a:solidFill>
              </a:defRPr>
            </a:pPr>
            <a:r>
              <a:t>The Server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32004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554480"/>
            <a:ext cx="87782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4E4E7"/>
                </a:solidFill>
                <a:latin typeface="Menlo"/>
              </a:defRPr>
            </a:pPr>
            <a:r>
              <a:t>it('returns premium pricing for pro users', async () =&gt; {</a:t>
            </a:r>
            <a:br/>
            <a:r>
              <a:t>  vi.mock('./session', () =&gt; ({</a:t>
            </a:r>
            <a:br/>
            <a:r>
              <a:t>    getSession: () =&gt; ({ userId: '123', tier: 'pro' })</a:t>
            </a:r>
            <a:br/>
            <a:r>
              <a:t>  }));</a:t>
            </a:r>
            <a:br/>
            <a:br/>
            <a:r>
              <a:t>  const response = await request(app).get('/api/pricing');</a:t>
            </a:r>
            <a:br/>
            <a:br/>
            <a:r>
              <a:t>  expect(response.body.discount).toBe(20);</a:t>
            </a:r>
            <a:br/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</a:defRPr>
            </a:pPr>
            <a:r>
              <a:t>Test passes.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did we 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A1A1AA"/>
                </a:solidFill>
              </a:defRPr>
            </a:pPr>
            <a:r>
              <a:t>IF session exists correctly...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A1A1AA"/>
                </a:solidFill>
              </a:defRPr>
            </a:pPr>
            <a:r>
              <a:t>AND code reads it correctly...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A1A1AA"/>
                </a:solidFill>
              </a:defRPr>
            </a:pPr>
            <a:r>
              <a:t>THEN we return the discount.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</a:defRPr>
            </a:pPr>
            <a:r>
              <a:t>What we did NOT prove: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That a real user actually sees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1A1AA"/>
                </a:solidFill>
              </a:defRPr>
            </a:pPr>
            <a:r>
              <a:t>The Frontend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229600" cy="22860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78638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4E4E7"/>
                </a:solidFill>
                <a:latin typeface="Menlo"/>
              </a:defRPr>
            </a:pPr>
            <a:r>
              <a:t>it('displays discount for premium users', () =&gt; {</a:t>
            </a:r>
            <a:br/>
            <a:r>
              <a:t>  render(&lt;PricingPage pricing={{ discount: 20 }} /&gt;);</a:t>
            </a:r>
            <a:br/>
            <a:br/>
            <a:r>
              <a:t>  expect(screen.getByText('20% off')).toBeInTheDocument();</a:t>
            </a:r>
            <a:br/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2C55E"/>
                </a:solidFill>
              </a:defRPr>
            </a:pPr>
            <a:r>
              <a:t>Test passes.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We hardcoded the discount.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1A1AA"/>
                </a:solidFill>
              </a:defRPr>
            </a:pPr>
            <a:r>
              <a:t>We assumed the server returns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What if our assumption is wrong?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36576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SERVER TESTS</a:t>
            </a:r>
          </a:p>
          <a:p>
            <a:br/>
            <a:pPr algn="ctr">
              <a:defRPr sz="1600">
                <a:solidFill>
                  <a:srgbClr val="A1A1AA"/>
                </a:solidFill>
              </a:defRPr>
            </a:pPr>
            <a:r>
              <a:t>supertest / jest / vitest</a:t>
            </a:r>
          </a:p>
          <a:p>
            <a:br/>
            <a:br/>
            <a:pPr algn="ctr">
              <a:defRPr sz="1800">
                <a:solidFill>
                  <a:srgbClr val="FFFFFF"/>
                </a:solidFill>
              </a:defRPr>
            </a:pPr>
            <a:r>
              <a:t>API returns JSON</a:t>
            </a:r>
          </a:p>
          <a:p>
            <a:br/>
            <a:pPr algn="ctr">
              <a:defRPr sz="1800">
                <a:solidFill>
                  <a:srgbClr val="EF4444"/>
                </a:solidFill>
              </a:defRPr>
            </a:pPr>
            <a:r>
              <a:t>No real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6895" y="1371600"/>
            <a:ext cx="3657600" cy="36576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9775" y="155448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FRONTEND TESTS</a:t>
            </a:r>
          </a:p>
          <a:p>
            <a:br/>
            <a:pPr algn="ctr">
              <a:defRPr sz="1600">
                <a:solidFill>
                  <a:srgbClr val="A1A1AA"/>
                </a:solidFill>
              </a:defRPr>
            </a:pPr>
            <a:r>
              <a:t>RTL / jsdom</a:t>
            </a:r>
          </a:p>
          <a:p>
            <a:br/>
            <a:br/>
            <a:pPr algn="ctr">
              <a:defRPr sz="1800">
                <a:solidFill>
                  <a:srgbClr val="FFFFFF"/>
                </a:solidFill>
              </a:defRPr>
            </a:pPr>
            <a:r>
              <a:t>Component renders</a:t>
            </a:r>
          </a:p>
          <a:p>
            <a:br/>
            <a:pPr algn="ctr">
              <a:defRPr sz="1800">
                <a:solidFill>
                  <a:srgbClr val="EF4444"/>
                </a:solidFill>
              </a:defRPr>
            </a:pPr>
            <a:r>
              <a:t>No real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047695" cy="274320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26819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THE GAP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Real browser</a:t>
            </a:r>
            <a:br/>
            <a:r>
              <a:t>+ Real server</a:t>
            </a:r>
            <a:br/>
            <a:r>
              <a:t>+ Controlled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That's where the bugs hide.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Why is this so hard?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Server-side state builds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10362895" cy="10972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9971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Login  session  Cart  Checkout  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Each step depends on the previous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Order matters. State matters.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Test: Payment declined for premium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1.  Real browser making real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2.  Real server executing your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3.  Auth0 returning a premium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4.  Stripe returning a declined 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</a:defRPr>
            </a:pPr>
            <a:r>
              <a:t>You can't ask Stripe to decline for your test.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Testing Pyramid Has a Gap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114800" y="1371600"/>
            <a:ext cx="3962095" cy="1371600"/>
          </a:xfrm>
          <a:prstGeom prst="triangl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3200400" y="2743200"/>
            <a:ext cx="5790895" cy="1371600"/>
          </a:xfrm>
          <a:prstGeom prst="trapezoid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pezoid 5"/>
          <p:cNvSpPr/>
          <p:nvPr/>
        </p:nvSpPr>
        <p:spPr>
          <a:xfrm>
            <a:off x="2286000" y="4114800"/>
            <a:ext cx="7619695" cy="1371600"/>
          </a:xfrm>
          <a:prstGeom prst="trapezoid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E2E - Can't control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t>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Unit - Can't prove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What You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3200400" cy="2743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Real Browser</a:t>
            </a:r>
          </a:p>
          <a:p>
            <a:br/>
            <a:pPr algn="ctr">
              <a:defRPr sz="2000">
                <a:solidFill>
                  <a:srgbClr val="A1A1AA"/>
                </a:solidFill>
              </a:defRPr>
            </a:pPr>
            <a:r>
              <a:t>Playwright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Not jsdom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3200400" cy="27432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1031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Real Server</a:t>
            </a:r>
          </a:p>
          <a:p>
            <a:br/>
            <a:pPr algn="ctr">
              <a:defRPr sz="2000">
                <a:solidFill>
                  <a:srgbClr val="A1A1AA"/>
                </a:solidFill>
              </a:defRPr>
            </a:pPr>
            <a:r>
              <a:t>Your actual app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Code executes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3200400" cy="274320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103120"/>
            <a:ext cx="2834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Controlled APIs</a:t>
            </a:r>
          </a:p>
          <a:p>
            <a:br/>
            <a:pPr algn="ctr">
              <a:defRPr sz="2000">
                <a:solidFill>
                  <a:srgbClr val="A1A1AA"/>
                </a:solidFill>
              </a:defRPr>
            </a:pPr>
            <a:r>
              <a:t>You decide responses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Auth0, Stripe, etc.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Real browser. Real server. Controlled responses.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1A1AA"/>
                </a:solidFill>
              </a:defRPr>
            </a:pPr>
            <a:r>
              <a:t>What if you could do this?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97135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4E4E7"/>
                </a:solidFill>
                <a:latin typeface="Menlo"/>
              </a:defRPr>
            </a:pPr>
            <a:r>
              <a:t>test('premium user sees discount', async ({ page, switchScenario }) =&gt; {</a:t>
            </a:r>
            <a:br/>
            <a:r>
              <a:t>  await switchScenario('premiumUser');</a:t>
            </a:r>
            <a:br/>
            <a:r>
              <a:t>  await page.goto('/pricing');</a:t>
            </a:r>
            <a:br/>
            <a:r>
              <a:t>  await expect(page.getByText('20% off')).toBeVisible();</a:t>
            </a:r>
            <a:br/>
            <a:r>
              <a:t>});</a:t>
            </a:r>
            <a:br/>
            <a:br/>
            <a:r>
              <a:t>test('payment declined', async ({ page, switchScenario }) =&gt; {</a:t>
            </a:r>
            <a:br/>
            <a:r>
              <a:t>  await switchScenario('paymentDeclined');</a:t>
            </a:r>
            <a:br/>
            <a:r>
              <a:t>  await page.goto('/checkout');</a:t>
            </a:r>
            <a:br/>
            <a:r>
              <a:t>  await page.click('Pay Now');</a:t>
            </a:r>
            <a:br/>
            <a:r>
              <a:t>  await expect(page.getByText('Card declined')).toBeVisible();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No server restarts.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No config files to edit.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No juggling test accounts.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2C55E"/>
                </a:solidFill>
              </a:defRPr>
            </a:pPr>
            <a:r>
              <a:t>Tests run in parallel.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1A1AA"/>
                </a:solidFill>
              </a:defRPr>
            </a:pPr>
            <a:r>
              <a:t>Next: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 real payment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Real Auth0. Real Stripe.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Real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